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3DC95B-5690-4D80-AB5D-ADA3754CD3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42F72E-530E-4F30-91BC-51D36F1679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5D7E28-8A18-468D-866C-C9BAEFBC38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87B283-5D0C-4ECB-9035-8177A870D5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C8C01B-2C94-4CE2-BF79-7622F69D99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AA8004-2CBC-4D4E-9BCD-D0BD6A3384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46CEEF-BA54-4B81-AFB3-A81201FDED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20E2A2-C846-424C-989F-2406282B53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07F76E-25D3-4F0F-9E24-B5289687D5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25D53D-CF58-4FAE-BD75-87303C2C63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289C8D-AA0B-4A48-867F-BA69830D9B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18288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EDA &amp; Business Intelligence</a:t>
            </a: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914400" y="2743200"/>
            <a:ext cx="2285640" cy="504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30175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Retail Store Sales Analysis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14400" y="4114800"/>
            <a:ext cx="28022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n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v 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g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k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 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| 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J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u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n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e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2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0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2</a:t>
            </a:r>
            <a:r>
              <a:rPr lang="en-US" sz="16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6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Agenda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1097280" y="13716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  Univariate Analysis — distributions &amp; summaries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Oval 4"/>
          <p:cNvSpPr/>
          <p:nvPr/>
        </p:nvSpPr>
        <p:spPr>
          <a:xfrm>
            <a:off x="640080" y="1463040"/>
            <a:ext cx="228240" cy="228240"/>
          </a:xfrm>
          <a:prstGeom prst="ellipse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1097280" y="22860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  SQL Business Questions — query-driven insights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Oval 6"/>
          <p:cNvSpPr/>
          <p:nvPr/>
        </p:nvSpPr>
        <p:spPr>
          <a:xfrm>
            <a:off x="640080" y="2377440"/>
            <a:ext cx="228240" cy="228240"/>
          </a:xfrm>
          <a:prstGeom prst="ellipse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1097280" y="32004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3.  Multivariate 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Analysis — 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correlations &amp; 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patterns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Oval 8"/>
          <p:cNvSpPr/>
          <p:nvPr/>
        </p:nvSpPr>
        <p:spPr>
          <a:xfrm>
            <a:off x="640080" y="3291840"/>
            <a:ext cx="228240" cy="228240"/>
          </a:xfrm>
          <a:prstGeom prst="ellipse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1097280" y="41148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4.  Proposed KPI Dashboard — key metrics for tracking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Oval 10"/>
          <p:cNvSpPr/>
          <p:nvPr/>
        </p:nvSpPr>
        <p:spPr>
          <a:xfrm>
            <a:off x="640080" y="4206240"/>
            <a:ext cx="228240" cy="228240"/>
          </a:xfrm>
          <a:prstGeom prst="ellipse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Bar Payment Method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Picture 3" descr="bar_payment_method.png"/>
          <p:cNvPicPr/>
          <p:nvPr/>
        </p:nvPicPr>
        <p:blipFill>
          <a:blip r:embed="rId1"/>
          <a:stretch/>
        </p:blipFill>
        <p:spPr>
          <a:xfrm>
            <a:off x="2436840" y="1097280"/>
            <a:ext cx="73148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4"/>
          <p:cNvSpPr/>
          <p:nvPr/>
        </p:nvSpPr>
        <p:spPr>
          <a:xfrm>
            <a:off x="274320" y="621792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Cash, Credit Card, and Digital Wallet each account for ~33% of transactions.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Bar Revenue By Category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4" name="Picture 3" descr="bar_revenue_by_category.png"/>
          <p:cNvPicPr/>
          <p:nvPr/>
        </p:nvPicPr>
        <p:blipFill>
          <a:blip r:embed="rId1"/>
          <a:stretch/>
        </p:blipFill>
        <p:spPr>
          <a:xfrm>
            <a:off x="1522440" y="1097280"/>
            <a:ext cx="91436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4"/>
          <p:cNvSpPr/>
          <p:nvPr/>
        </p:nvSpPr>
        <p:spPr>
          <a:xfrm>
            <a:off x="274320" y="621792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Butchers and Electric Home Equipment lead revenue; all 8 categories contribute 11-13% each.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Bar Revenue By Location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3" descr="bar_revenue_by_location.png"/>
          <p:cNvPicPr/>
          <p:nvPr/>
        </p:nvPicPr>
        <p:blipFill>
          <a:blip r:embed="rId1"/>
          <a:stretch/>
        </p:blipFill>
        <p:spPr>
          <a:xfrm>
            <a:off x="2894040" y="1097280"/>
            <a:ext cx="64004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4"/>
          <p:cNvSpPr/>
          <p:nvPr/>
        </p:nvSpPr>
        <p:spPr>
          <a:xfrm>
            <a:off x="274320" y="621792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New York and Los Angeles generate the highest revenue among all locations.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Bar Revenue By Payment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Picture 3" descr="bar_revenue_by_payment.png"/>
          <p:cNvPicPr/>
          <p:nvPr/>
        </p:nvPicPr>
        <p:blipFill>
          <a:blip r:embed="rId1"/>
          <a:stretch/>
        </p:blipFill>
        <p:spPr>
          <a:xfrm>
            <a:off x="2436840" y="1097280"/>
            <a:ext cx="73148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4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ti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y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y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Picture 3" descr="bar_transactions_by_category.png"/>
          <p:cNvPicPr/>
          <p:nvPr/>
        </p:nvPicPr>
        <p:blipFill>
          <a:blip r:embed="rId1"/>
          <a:stretch/>
        </p:blipFill>
        <p:spPr>
          <a:xfrm>
            <a:off x="1522440" y="1097280"/>
            <a:ext cx="91436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4"/>
          <p:cNvSpPr/>
          <p:nvPr/>
        </p:nvSpPr>
        <p:spPr>
          <a:xfrm>
            <a:off x="274320" y="621792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Transaction volume is evenly distributed across categories (~1,420 each).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Bar Weekday Distribution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Picture 3" descr="bar_weekday_distribution.png"/>
          <p:cNvPicPr/>
          <p:nvPr/>
        </p:nvPicPr>
        <p:blipFill>
          <a:blip r:embed="rId1"/>
          <a:stretch/>
        </p:blipFill>
        <p:spPr>
          <a:xfrm>
            <a:off x="1979640" y="1097280"/>
            <a:ext cx="82292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Box 4"/>
          <p:cNvSpPr/>
          <p:nvPr/>
        </p:nvSpPr>
        <p:spPr>
          <a:xfrm>
            <a:off x="274320" y="621792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Sunday sees the most transactions; mid-week (Tue-Wed) dips noticeably.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Histogram Total Spent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8" name="Picture 3" descr="histogram_total_spent.png"/>
          <p:cNvPicPr/>
          <p:nvPr/>
        </p:nvPicPr>
        <p:blipFill>
          <a:blip r:embed="rId1"/>
          <a:stretch/>
        </p:blipFill>
        <p:spPr>
          <a:xfrm>
            <a:off x="1522440" y="1097280"/>
            <a:ext cx="91436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Box 4"/>
          <p:cNvSpPr/>
          <p:nvPr/>
        </p:nvSpPr>
        <p:spPr>
          <a:xfrm>
            <a:off x="274320" y="621792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Most customers spend between $100-$160 per transaction; distribution is roughly normal.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5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Pie Discount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3" name="Picture 3" descr="pie_discount.png"/>
          <p:cNvPicPr/>
          <p:nvPr/>
        </p:nvPicPr>
        <p:blipFill>
          <a:blip r:embed="rId1"/>
          <a:stretch/>
        </p:blipFill>
        <p:spPr>
          <a:xfrm>
            <a:off x="3579840" y="1097280"/>
            <a:ext cx="502884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Box 4"/>
          <p:cNvSpPr/>
          <p:nvPr/>
        </p:nvSpPr>
        <p:spPr>
          <a:xfrm>
            <a:off x="274320" y="621792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33.5% of all transactions include a discount — about a third of sales.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SQL Business Questions — Key Findings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417600" y="1371600"/>
            <a:ext cx="58824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Q1-Q4: Revenue, AOV, transactions by category and channel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6480000" y="134316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Q5: Monthly revenue trend — peak in Jan 2025 ($56K)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5"/>
          <p:cNvSpPr/>
          <p:nvPr/>
        </p:nvSpPr>
        <p:spPr>
          <a:xfrm>
            <a:off x="381960" y="170568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Q6: Category &amp; channel breakdown with percentages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6"/>
          <p:cNvSpPr/>
          <p:nvPr/>
        </p:nvSpPr>
        <p:spPr>
          <a:xfrm>
            <a:off x="6300000" y="170568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Q7: Top product Item_25_FUR generates $25.3K revenue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381960" y="19800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Q8: Discounted orders have HIGHER AOV ($130.72 vs $129.10)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8"/>
          <p:cNvSpPr/>
          <p:nvPr/>
        </p:nvSpPr>
        <p:spPr>
          <a:xfrm>
            <a:off x="381960" y="23400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Q9: JOIN — Gold members (10 cust) contribute $608.8K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9"/>
          <p:cNvSpPr/>
          <p:nvPr/>
        </p:nvSpPr>
        <p:spPr>
          <a:xfrm>
            <a:off x="6321960" y="224316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Q10: JOIN — New York customers lead at $373.3K revenue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Picture 10" descr="line_monthly_revenue.png"/>
          <p:cNvPicPr/>
          <p:nvPr/>
        </p:nvPicPr>
        <p:blipFill>
          <a:blip r:embed="rId1"/>
          <a:stretch/>
        </p:blipFill>
        <p:spPr>
          <a:xfrm>
            <a:off x="1548000" y="2796840"/>
            <a:ext cx="9072000" cy="377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Box 11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Boxplot Spent By Category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Picture 3" descr="boxplot_spent_by_category.png"/>
          <p:cNvPicPr/>
          <p:nvPr/>
        </p:nvPicPr>
        <p:blipFill>
          <a:blip r:embed="rId1"/>
          <a:stretch/>
        </p:blipFill>
        <p:spPr>
          <a:xfrm>
            <a:off x="608040" y="1097280"/>
            <a:ext cx="109724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4"/>
          <p:cNvSpPr/>
          <p:nvPr/>
        </p:nvSpPr>
        <p:spPr>
          <a:xfrm>
            <a:off x="274320" y="621792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Revenue distribution is similar across categories; outlier transactions exist in every category.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Heatmap Category Location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4" name="Picture 3" descr="heatmap_category_location.png"/>
          <p:cNvPicPr/>
          <p:nvPr/>
        </p:nvPicPr>
        <p:blipFill>
          <a:blip r:embed="rId1"/>
          <a:stretch/>
        </p:blipFill>
        <p:spPr>
          <a:xfrm>
            <a:off x="1903320" y="1097280"/>
            <a:ext cx="838152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Box 4"/>
          <p:cNvSpPr/>
          <p:nvPr/>
        </p:nvSpPr>
        <p:spPr>
          <a:xfrm>
            <a:off x="274320" y="6217920"/>
            <a:ext cx="67780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Category revenue is fairly uniform across locations,  no strong regional preferences.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5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13/18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Heatmap Correlation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9" name="Picture 3" descr="heatmap_correlation.png"/>
          <p:cNvPicPr/>
          <p:nvPr/>
        </p:nvPicPr>
        <p:blipFill>
          <a:blip r:embed="rId1"/>
          <a:stretch/>
        </p:blipFill>
        <p:spPr>
          <a:xfrm>
            <a:off x="2741760" y="1097280"/>
            <a:ext cx="670536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Box 4"/>
          <p:cNvSpPr/>
          <p:nvPr/>
        </p:nvSpPr>
        <p:spPr>
          <a:xfrm>
            <a:off x="274320" y="621792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Total spent and quantity show weak positive correlation; no strong multicollinearity.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14/18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Pairplot Numeric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4" name="Picture 3" descr="pairplot_numeric.png"/>
          <p:cNvPicPr/>
          <p:nvPr/>
        </p:nvPicPr>
        <p:blipFill>
          <a:blip r:embed="rId1"/>
          <a:stretch/>
        </p:blipFill>
        <p:spPr>
          <a:xfrm>
            <a:off x="3638880" y="1097280"/>
            <a:ext cx="491040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4"/>
          <p:cNvSpPr/>
          <p:nvPr/>
        </p:nvSpPr>
        <p:spPr>
          <a:xfrm>
            <a:off x="274320" y="621792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 strong linear relationships between numeric variables; data is well-behaved.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5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15/18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Line Aov Monthly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3" descr="line_aov_monthly.png"/>
          <p:cNvPicPr/>
          <p:nvPr/>
        </p:nvPicPr>
        <p:blipFill>
          <a:blip r:embed="rId1"/>
          <a:stretch/>
        </p:blipFill>
        <p:spPr>
          <a:xfrm>
            <a:off x="608040" y="1097280"/>
            <a:ext cx="109724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Box 4"/>
          <p:cNvSpPr/>
          <p:nvPr/>
        </p:nvSpPr>
        <p:spPr>
          <a:xfrm>
            <a:off x="274320" y="621792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Average order value fluctuates monthly but shows no significant trend over time.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5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16/18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Proposed KPI Dashboard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ounded Rectangle 3"/>
          <p:cNvSpPr/>
          <p:nvPr/>
        </p:nvSpPr>
        <p:spPr>
          <a:xfrm>
            <a:off x="1371600" y="1828800"/>
            <a:ext cx="3200040" cy="1188360"/>
          </a:xfrm>
          <a:prstGeom prst="roundRect">
            <a:avLst>
              <a:gd name="adj" fmla="val 16667"/>
            </a:avLst>
          </a:prstGeom>
          <a:solidFill>
            <a:srgbClr val="1B2D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4"/>
          <p:cNvSpPr/>
          <p:nvPr/>
        </p:nvSpPr>
        <p:spPr>
          <a:xfrm>
            <a:off x="1554480" y="196596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AABB"/>
                </a:solidFill>
                <a:effectLst/>
                <a:uFillTx/>
                <a:latin typeface="Calibri"/>
              </a:rPr>
              <a:t>Total Revenue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1554480" y="228600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     $1,474,843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6"/>
          <p:cNvSpPr/>
          <p:nvPr/>
        </p:nvSpPr>
        <p:spPr>
          <a:xfrm>
            <a:off x="5029200" y="1828800"/>
            <a:ext cx="3200040" cy="1188360"/>
          </a:xfrm>
          <a:prstGeom prst="roundRect">
            <a:avLst>
              <a:gd name="adj" fmla="val 16667"/>
            </a:avLst>
          </a:prstGeom>
          <a:solidFill>
            <a:srgbClr val="1B2D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5212080" y="196596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AABB"/>
                </a:solidFill>
                <a:effectLst/>
                <a:uFillTx/>
                <a:latin typeface="Calibri"/>
              </a:rPr>
              <a:t>Avg Order Value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8"/>
          <p:cNvSpPr/>
          <p:nvPr/>
        </p:nvSpPr>
        <p:spPr>
          <a:xfrm>
            <a:off x="5212080" y="228600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   $129.82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9"/>
          <p:cNvSpPr/>
          <p:nvPr/>
        </p:nvSpPr>
        <p:spPr>
          <a:xfrm>
            <a:off x="8686800" y="1828800"/>
            <a:ext cx="3200040" cy="1188360"/>
          </a:xfrm>
          <a:prstGeom prst="roundRect">
            <a:avLst>
              <a:gd name="adj" fmla="val 16667"/>
            </a:avLst>
          </a:prstGeom>
          <a:solidFill>
            <a:srgbClr val="1B2D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8869680" y="196596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AABB"/>
                </a:solidFill>
                <a:effectLst/>
                <a:uFillTx/>
                <a:latin typeface="Calibri"/>
              </a:rPr>
              <a:t>Total Transactions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1"/>
          <p:cNvSpPr/>
          <p:nvPr/>
        </p:nvSpPr>
        <p:spPr>
          <a:xfrm>
            <a:off x="8869680" y="228600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11,362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12"/>
          <p:cNvSpPr/>
          <p:nvPr/>
        </p:nvSpPr>
        <p:spPr>
          <a:xfrm>
            <a:off x="1371600" y="3474720"/>
            <a:ext cx="3200040" cy="1188360"/>
          </a:xfrm>
          <a:prstGeom prst="roundRect">
            <a:avLst>
              <a:gd name="adj" fmla="val 16667"/>
            </a:avLst>
          </a:prstGeom>
          <a:solidFill>
            <a:srgbClr val="1B2D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3"/>
          <p:cNvSpPr/>
          <p:nvPr/>
        </p:nvSpPr>
        <p:spPr>
          <a:xfrm>
            <a:off x="1554480" y="361188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AABB"/>
                </a:solidFill>
                <a:effectLst/>
                <a:uFillTx/>
                <a:latin typeface="Calibri"/>
              </a:rPr>
              <a:t>Discount Rate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4"/>
          <p:cNvSpPr/>
          <p:nvPr/>
        </p:nvSpPr>
        <p:spPr>
          <a:xfrm>
            <a:off x="1554480" y="393192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     33.5%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15"/>
          <p:cNvSpPr/>
          <p:nvPr/>
        </p:nvSpPr>
        <p:spPr>
          <a:xfrm>
            <a:off x="5029200" y="3474720"/>
            <a:ext cx="3200040" cy="1188360"/>
          </a:xfrm>
          <a:prstGeom prst="roundRect">
            <a:avLst>
              <a:gd name="adj" fmla="val 16667"/>
            </a:avLst>
          </a:prstGeom>
          <a:solidFill>
            <a:srgbClr val="1B2D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16"/>
          <p:cNvSpPr/>
          <p:nvPr/>
        </p:nvSpPr>
        <p:spPr>
          <a:xfrm>
            <a:off x="5212080" y="361188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AABB"/>
                </a:solidFill>
                <a:effectLst/>
                <a:uFillTx/>
                <a:latin typeface="Calibri"/>
              </a:rPr>
              <a:t>Online / In-store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7"/>
          <p:cNvSpPr/>
          <p:nvPr/>
        </p:nvSpPr>
        <p:spPr>
          <a:xfrm>
            <a:off x="5212080" y="393192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 50.9% / 49.1%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9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17/18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/>
          <p:nvPr/>
        </p:nvSpPr>
        <p:spPr>
          <a:xfrm>
            <a:off x="274320" y="182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Takeaways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2"/>
          <p:cNvSpPr/>
          <p:nvPr/>
        </p:nvSpPr>
        <p:spPr>
          <a:xfrm>
            <a:off x="274320" y="685800"/>
            <a:ext cx="1371240" cy="378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Oval 3"/>
          <p:cNvSpPr/>
          <p:nvPr/>
        </p:nvSpPr>
        <p:spPr>
          <a:xfrm>
            <a:off x="731520" y="1691640"/>
            <a:ext cx="411120" cy="411120"/>
          </a:xfrm>
          <a:prstGeom prst="ellipse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1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1371600" y="1645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Revenue is evenly distributed across 8 categories — no single category dominates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Oval 5"/>
          <p:cNvSpPr/>
          <p:nvPr/>
        </p:nvSpPr>
        <p:spPr>
          <a:xfrm>
            <a:off x="731520" y="2606040"/>
            <a:ext cx="411120" cy="411120"/>
          </a:xfrm>
          <a:prstGeom prst="ellipse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2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1371600" y="25603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Online and in-store channels are nearly equal — omni-channel strategy validated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Oval 7"/>
          <p:cNvSpPr/>
          <p:nvPr/>
        </p:nvSpPr>
        <p:spPr>
          <a:xfrm>
            <a:off x="731520" y="3520440"/>
            <a:ext cx="411120" cy="411120"/>
          </a:xfrm>
          <a:prstGeom prst="ellipse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3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8"/>
          <p:cNvSpPr/>
          <p:nvPr/>
        </p:nvSpPr>
        <p:spPr>
          <a:xfrm>
            <a:off x="1371600" y="34747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Discounts DON'T reduce AOV — they can be used safely to drive volume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Oval 9"/>
          <p:cNvSpPr/>
          <p:nvPr/>
        </p:nvSpPr>
        <p:spPr>
          <a:xfrm>
            <a:off x="731520" y="4434840"/>
            <a:ext cx="411120" cy="411120"/>
          </a:xfrm>
          <a:prstGeom prst="ellipse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4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1371600" y="43891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Gold-tier members (10 customers) contribute 41% of total revenue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Oval 11"/>
          <p:cNvSpPr/>
          <p:nvPr/>
        </p:nvSpPr>
        <p:spPr>
          <a:xfrm>
            <a:off x="731520" y="5349240"/>
            <a:ext cx="411120" cy="411120"/>
          </a:xfrm>
          <a:prstGeom prst="ellipse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5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2"/>
          <p:cNvSpPr/>
          <p:nvPr/>
        </p:nvSpPr>
        <p:spPr>
          <a:xfrm>
            <a:off x="1371600" y="53035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New York, LA, and Chicago are the top 3 revenue-generating cities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3"/>
          <p:cNvSpPr/>
          <p:nvPr/>
        </p:nvSpPr>
        <p:spPr>
          <a:xfrm>
            <a:off x="11247120" y="64008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18/18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LibreOffice/26.2.4.2$Linux_X86_64 LibreOffice_project/c44d3140fc62714965bf5d98735e0d79ba4b1ebd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2026-06-12T20:54:18Z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